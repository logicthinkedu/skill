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1" r:id="rId9"/>
    <p:sldId id="263" r:id="rId10"/>
    <p:sldId id="261" r:id="rId11"/>
    <p:sldId id="265" r:id="rId12"/>
    <p:sldId id="262" r:id="rId13"/>
    <p:sldId id="266" r:id="rId14"/>
    <p:sldId id="267" r:id="rId15"/>
    <p:sldId id="268" r:id="rId16"/>
    <p:sldId id="264" r:id="rId17"/>
    <p:sldId id="273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548640" y="1280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System Design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FFFBEB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Scenario: </a:t>
            </a: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user wants AI to do a Code Review. Even knowing how to write the prompt, they still must: manually upload the code, paste in standards, specify output format — every single time. </a:t>
            </a:r>
            <a:r>
              <a:rPr lang="en-US" sz="125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to say" is no longer the bottleneck. "How to run the workflow end-to-end" 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92608" cy="292608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8" name="Text 6"/>
          <p:cNvSpPr/>
          <p:nvPr/>
        </p:nvSpPr>
        <p:spPr>
          <a:xfrm>
            <a:off x="457200" y="26974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execution orchestration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tasks need multi-step flows (read file → check items → load standards → report). No way to define this — users guide manually.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47288"/>
            <a:ext cx="292608" cy="292608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12" name="Text 10"/>
          <p:cNvSpPr/>
          <p:nvPr/>
        </p:nvSpPr>
        <p:spPr>
          <a:xfrm>
            <a:off x="457200" y="3447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015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Templates don’t manage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675888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Can’t auto-bind tool permissions. Users manually handle file reads, data queries every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97096"/>
            <a:ext cx="292608" cy="292608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16" name="Text 14"/>
          <p:cNvSpPr/>
          <p:nvPr/>
        </p:nvSpPr>
        <p:spPr>
          <a:xfrm>
            <a:off x="457200" y="41970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15137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materials can’t load on demand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25696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standards &amp; domain knowledge must be pasted into context each time — repetitive and token-wasteful.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Skills?</a:t>
            </a:r>
            <a:endParaRPr lang="zh-CN" altLang="en-US" sz="2400" b="1" dirty="0">
              <a:solidFill>
                <a:srgbClr val="111827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78307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0F96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70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= A Reusable Expert-Level Prompt Package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Bundles task instructions, tool permissions, and reference materials into a single unit, loaded on demand.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51760" cy="10972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2651760" cy="4572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10" name="Text 8"/>
          <p:cNvSpPr/>
          <p:nvPr/>
        </p:nvSpPr>
        <p:spPr>
          <a:xfrm>
            <a:off x="594360" y="2514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Instructions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steps, judgment criteria, output format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651760" cy="10972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377440"/>
            <a:ext cx="2651760" cy="4572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14" name="Text 12"/>
          <p:cNvSpPr/>
          <p:nvPr/>
        </p:nvSpPr>
        <p:spPr>
          <a:xfrm>
            <a:off x="3429000" y="2514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Permissions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Authorized tools the Skill can invoke (read-file, grep, etc.)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377440"/>
            <a:ext cx="2651760" cy="10972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377440"/>
            <a:ext cx="2651760" cy="4572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18" name="Text 16"/>
          <p:cNvSpPr/>
          <p:nvPr/>
        </p:nvSpPr>
        <p:spPr>
          <a:xfrm>
            <a:off x="6263640" y="2514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Materials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Coding standards, document templates, domain knowledge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21" name="Text 19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Prompt: Skills are loaded on demand (not all at once), reusable across users (not personal), and include tool permission controls.</a:t>
            </a:r>
            <a:endParaRPr lang="en-US" sz="11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935" y="435610"/>
            <a:ext cx="1634490" cy="1757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a Skill.md Look Like?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40360" y="1126490"/>
            <a:ext cx="5029200" cy="3663315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6" name="Text 4"/>
          <p:cNvSpPr/>
          <p:nvPr/>
        </p:nvSpPr>
        <p:spPr>
          <a:xfrm>
            <a:off x="640080" y="128016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---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name: code-review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description: Review code against team standards.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Check for security, performance, conventions.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allowed-tools: [read-file, grep, terminal]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scope: project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---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Code Review Skill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When performing a code review, follow these steps: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Security Check: SQL injection, XSS, hardcoded keys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Performance: N+1 queries, unnecessary loops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Standards: Verify naming and structure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## Output Format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Blocker: Must fix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Warning: Recommended improvement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Good: Noteworthy best practices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58485" y="11557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Metadata (L1)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555115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+ description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at startup for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allowed-tools: permission whitelist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235966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Execution Instructions (L2)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266827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Markdown body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only when activated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steps, criteria,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36895" y="340487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Reference Materials (L3)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54040" y="374015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in sibling directories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references/style-guide.md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on demand during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Skill Invocation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27709"/>
            <a:ext cx="320040" cy="320040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7" name="Text 5"/>
          <p:cNvSpPr/>
          <p:nvPr/>
        </p:nvSpPr>
        <p:spPr>
          <a:xfrm>
            <a:off x="411480" y="1227709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172845"/>
            <a:ext cx="3977640" cy="43891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172845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172845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"Review this Python file"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11757"/>
            <a:ext cx="32004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785493"/>
            <a:ext cx="320040" cy="320040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13" name="Text 11"/>
          <p:cNvSpPr/>
          <p:nvPr/>
        </p:nvSpPr>
        <p:spPr>
          <a:xfrm>
            <a:off x="411480" y="1785493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1730629"/>
            <a:ext cx="3977640" cy="43891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730629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Auto-Match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1730629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code-review Skill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169541"/>
            <a:ext cx="32004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43277"/>
            <a:ext cx="320040" cy="320040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19" name="Text 17"/>
          <p:cNvSpPr/>
          <p:nvPr/>
        </p:nvSpPr>
        <p:spPr>
          <a:xfrm>
            <a:off x="411480" y="2343277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2288413"/>
            <a:ext cx="3977640" cy="43891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288413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Instructions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2288413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dimensions, output format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727325"/>
            <a:ext cx="32004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901061"/>
            <a:ext cx="320040" cy="320040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25" name="Text 23"/>
          <p:cNvSpPr/>
          <p:nvPr/>
        </p:nvSpPr>
        <p:spPr>
          <a:xfrm>
            <a:off x="411480" y="2901061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2846197"/>
            <a:ext cx="3977640" cy="43891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846197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Invoke Tools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2846197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read-file, check each item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285109"/>
            <a:ext cx="32004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458845"/>
            <a:ext cx="320040" cy="320040"/>
          </a:xfrm>
          <a:prstGeom prst="ellipse">
            <a:avLst/>
          </a:prstGeom>
          <a:solidFill>
            <a:srgbClr val="0F969C"/>
          </a:solidFill>
        </p:spPr>
      </p:sp>
      <p:sp>
        <p:nvSpPr>
          <p:cNvPr id="31" name="Text 29"/>
          <p:cNvSpPr/>
          <p:nvPr/>
        </p:nvSpPr>
        <p:spPr>
          <a:xfrm>
            <a:off x="411480" y="3458845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3403981"/>
            <a:ext cx="3977640" cy="43891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3403981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Resources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14600" y="3403981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coding standards (L3)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3842893"/>
            <a:ext cx="32004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016629"/>
            <a:ext cx="320040" cy="32004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7" name="Text 35"/>
          <p:cNvSpPr/>
          <p:nvPr/>
        </p:nvSpPr>
        <p:spPr>
          <a:xfrm>
            <a:off x="411480" y="4016629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" y="3961765"/>
            <a:ext cx="3977640" cy="438912"/>
          </a:xfrm>
          <a:prstGeom prst="rect">
            <a:avLst/>
          </a:prstGeom>
          <a:solidFill>
            <a:srgbClr val="F7F9FC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3961765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Report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14600" y="3961765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review results</a:t>
            </a:r>
            <a:endParaRPr lang="en-US" sz="1100" dirty="0"/>
          </a:p>
        </p:txBody>
      </p:sp>
      <p:pic>
        <p:nvPicPr>
          <p:cNvPr id="5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17550"/>
            <a:ext cx="3859530" cy="398081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Text 19"/>
          <p:cNvSpPr/>
          <p:nvPr/>
        </p:nvSpPr>
        <p:spPr>
          <a:xfrm>
            <a:off x="731520" y="4729480"/>
            <a:ext cx="7863840" cy="403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just describe the task, system auto-matches the most relevant Skill</a:t>
            </a:r>
            <a:endParaRPr lang="en-US" sz="1100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alt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Three-Layer Progressive Loading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15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194560"/>
                <a:gridCol w="21031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Layer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Content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Loaded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Token Cost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L1 Metadata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Skill name + description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Fully loaded at startup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~100 tokens/skill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L2 Instructions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Complete Markdown execution steps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Skill is activated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&lt;5,000 tokens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L3 Resources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Standards, templates, scripts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demand during execution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Varies by file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Consumption Comparison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154680"/>
            <a:ext cx="4572000" cy="36576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8" name="Text 5"/>
          <p:cNvSpPr/>
          <p:nvPr/>
        </p:nvSpPr>
        <p:spPr>
          <a:xfrm>
            <a:off x="640080" y="31546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injection (50 Skills): ~150K tokens/turn</a:t>
            </a:r>
            <a:endParaRPr lang="en-US" sz="1200" dirty="0"/>
          </a:p>
        </p:txBody>
      </p:sp>
      <p:sp>
        <p:nvSpPr>
          <p:cNvPr id="5" name="Shape 6"/>
          <p:cNvSpPr/>
          <p:nvPr/>
        </p:nvSpPr>
        <p:spPr>
          <a:xfrm>
            <a:off x="457200" y="3611880"/>
            <a:ext cx="457200" cy="365760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10" name="Text 7"/>
          <p:cNvSpPr/>
          <p:nvPr/>
        </p:nvSpPr>
        <p:spPr>
          <a:xfrm>
            <a:off x="640080" y="36118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Three-layer loading (L1 only): ~5K tokens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90%+ reduction in token consumption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6177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 Phase 1 (8 Skills): full injection ~24K vs three-layer ~800 tokens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234950" y="10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15</a:t>
            </a:r>
            <a:endParaRPr lang="en-US" sz="800" dirty="0"/>
          </a:p>
        </p:txBody>
      </p:sp>
      <p:pic>
        <p:nvPicPr>
          <p:cNvPr id="1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280" y="101600"/>
            <a:ext cx="4331970" cy="4958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9630" y="1508760"/>
            <a:ext cx="73152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0F969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2510" y="150876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8115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1150" y="18288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Create &amp;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9630" y="2286000"/>
            <a:ext cx="73152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0F969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2510" y="228600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81150" y="2331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Data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81150" y="2606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Three core tables and design rationale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9630" y="3063240"/>
            <a:ext cx="73152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0F969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2510" y="306324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81150" y="3108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API Design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1150" y="33832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Four API groups + integration approach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9630" y="3840480"/>
            <a:ext cx="73152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0F969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2510" y="384048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81150" y="3886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Context Budget Strategy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81150" y="4160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Three-zone partitioning, four-step control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41910"/>
            <a:ext cx="8229600" cy="456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Interface: Create &amp; Manage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15</a:t>
            </a:r>
            <a:endParaRPr lang="en-US" sz="800" dirty="0"/>
          </a:p>
        </p:txBody>
      </p:sp>
      <p:pic>
        <p:nvPicPr>
          <p:cNvPr id="2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4015" y="498475"/>
            <a:ext cx="4234815" cy="3801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31" descr="Gemini_Generated_Image_3bnhnq3bnhnq3bn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" y="498475"/>
            <a:ext cx="3053715" cy="4441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table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463040"/>
          <a:ext cx="39319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920240"/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Field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 PK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identifier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name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 UNIQUE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Skill identifier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description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 L1 matching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content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Markdown instructions (L2)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allowed_tools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JSON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Tool whitelist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scope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/ project / org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enabled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BOOLEAN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Enabled status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1887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skill_resources table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4754880" y="1463040"/>
          <a:ext cx="3931920" cy="13716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2011680"/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Field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 PK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identifier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skill_id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 FK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Associated skill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name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Resource identifier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type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reference / script / template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content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Resource content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29260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user_skill_settings table</a:t>
            </a:r>
            <a:endParaRPr lang="en-US" sz="13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/>
        </p:nvGraphicFramePr>
        <p:xfrm>
          <a:off x="4754880" y="320040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2011680"/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Field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user_id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identifier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skill_id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 FK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Associated skill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enabled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BOOLEAN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Per-user toggle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Design +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CRUD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417320"/>
          <a:ext cx="3383280" cy="1207008"/>
        </p:xfrm>
        <a:graphic>
          <a:graphicData uri="http://schemas.openxmlformats.org/drawingml/2006/table">
            <a:tbl>
              <a:tblPr/>
              <a:tblGrid>
                <a:gridCol w="548640"/>
                <a:gridCol w="1234440"/>
                <a:gridCol w="1600200"/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Path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/api/skills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List skills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/api/skills/:id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Get details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/api/skills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Create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PUT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/api/skills/:id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Update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DELETE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/api/skills/:id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Delete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Testing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/>
        </p:nvGraphicFramePr>
        <p:xfrm>
          <a:off x="457200" y="3154680"/>
          <a:ext cx="33832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737360"/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Path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…/generate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AI-generate draft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…/:id/test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saved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…/test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draft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206240" y="1143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96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 &amp; Config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/>
        </p:nvGraphicFramePr>
        <p:xfrm>
          <a:off x="4206240" y="1417320"/>
          <a:ext cx="3200400" cy="1207008"/>
        </p:xfrm>
        <a:graphic>
          <a:graphicData uri="http://schemas.openxmlformats.org/drawingml/2006/table">
            <a:tbl>
              <a:tblPr/>
              <a:tblGrid>
                <a:gridCol w="548640"/>
                <a:gridCol w="1417320"/>
                <a:gridCol w="1234440"/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Path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69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…/:id/resources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List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…/:id/resources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PUT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…/:id/resources/:rid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Update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DELETE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…/:id/resources/:rid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Delete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PUT</a:t>
                      </a:r>
                      <a:endParaRPr lang="en-US" sz="8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/api/skills/settings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Toggle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206240" y="2880360"/>
            <a:ext cx="4572000" cy="2743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7"/>
          <p:cNvSpPr/>
          <p:nvPr/>
        </p:nvSpPr>
        <p:spPr>
          <a:xfrm>
            <a:off x="4343400" y="28803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Tool Functions (model-invoked only)</a:t>
            </a:r>
            <a:endParaRPr lang="en-US" sz="1100" dirty="0"/>
          </a:p>
        </p:txBody>
      </p:sp>
      <p:sp>
        <p:nvSpPr>
          <p:cNvPr id="6" name="Shape 8"/>
          <p:cNvSpPr/>
          <p:nvPr/>
        </p:nvSpPr>
        <p:spPr>
          <a:xfrm>
            <a:off x="4206240" y="3200400"/>
            <a:ext cx="4572000" cy="100584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389120" y="324612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70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load_skill(skill_name)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389120" y="345643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complete execution instructions (L2)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389120" y="3703320"/>
            <a:ext cx="4114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89120" y="376732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70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load_skill_resource(skill, resource)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389120" y="39776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auxiliary resource content (L3)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Integration: standard tool-use protocol, no new mechanism. L1 catalog injected into System Prompt at startup.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800" dirty="0"/>
          </a:p>
        </p:txBody>
      </p:sp>
      <p:pic>
        <p:nvPicPr>
          <p:cNvPr id="24" name="Picture 23"/>
          <p:cNvPicPr/>
          <p:nvPr/>
        </p:nvPicPr>
        <p:blipFill>
          <a:blip r:embed="rId1"/>
          <a:stretch>
            <a:fillRect/>
          </a:stretch>
        </p:blipFill>
        <p:spPr>
          <a:xfrm>
            <a:off x="386080" y="289560"/>
            <a:ext cx="8575040" cy="4323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1: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 timeline: 5 weeks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86200" cy="3200400"/>
          </a:xfrm>
          <a:prstGeom prst="rect">
            <a:avLst/>
          </a:prstGeom>
          <a:solidFill>
            <a:srgbClr val="F7F9FC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886200" cy="365760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Phase 1 Deliverables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L1/L2/L3 loading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load_skill / load_skill_resource integration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Dynamic L1 catalog injection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Full Skill Creator (AI + manual + test)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Skill Management UI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Context Budget management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5–8 seed Skills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70332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Basic execution step progress bar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969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2: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 timeline: 5 weeks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1170" y="1155065"/>
            <a:ext cx="3886200" cy="1417320"/>
          </a:xfrm>
          <a:prstGeom prst="rect">
            <a:avLst/>
          </a:prstGeom>
          <a:solidFill>
            <a:srgbClr val="F7F9FC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170" y="1155065"/>
            <a:ext cx="3886200" cy="36576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9" name="Text 17"/>
          <p:cNvSpPr/>
          <p:nvPr/>
        </p:nvSpPr>
        <p:spPr>
          <a:xfrm>
            <a:off x="608330" y="1155065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✅  Phase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330" y="1612265"/>
            <a:ext cx="3566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Multi-Skill composition → Phase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330" y="1840865"/>
            <a:ext cx="3566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Version management &amp; rollback → Phase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330" y="2069465"/>
            <a:ext cx="3566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Cross-team sharing / Marketplace → Future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330" y="2298065"/>
            <a:ext cx="3566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Automated effectiveness eval → Future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5177</Words>
  <Application>WPS Presentation</Application>
  <PresentationFormat>On-screen Show (16:9)</PresentationFormat>
  <Paragraphs>504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System Proposal</dc:title>
  <dc:creator>PptxGenJS</dc:creator>
  <dc:subject>PptxGenJS Presentation</dc:subject>
  <cp:lastModifiedBy>think logic</cp:lastModifiedBy>
  <cp:revision>23</cp:revision>
  <dcterms:created xsi:type="dcterms:W3CDTF">2026-04-14T08:28:00Z</dcterms:created>
  <dcterms:modified xsi:type="dcterms:W3CDTF">2026-04-14T09:50:52Z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26DA90BC54E1462CB129EEE9F3A47FE9_12</vt:lpwstr>
  </property>
  <property fmtid="{D5CDD505-2E9C-101B-9397-08002B2CF9AE}" pid="3" name="KSOProductBuildVer">
    <vt:lpwstr>1033-12.1.0.25242</vt:lpwstr>
  </property>
</Properties>
</file>