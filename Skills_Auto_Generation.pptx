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
  </p:notesMasterIdLst>
  <p:sldIdLst>
    <p:sldId id="256" r:id="rId2"/>
    <p:sldId id="275" r:id="rId3"/>
    <p:sldId id="266" r:id="rId4"/>
    <p:sldId id="271" r:id="rId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1" d="100"/>
          <a:sy n="141" d="100"/>
        </p:scale>
        <p:origin x="13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2026-09-10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ADA6E-2CD6-9D19-CCC8-291767BDC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B718C6-B9B5-DCAA-E352-36A84B7B6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3D7472-F849-0D2A-301E-8F361E9E0C5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E50B363-9A12-5E98-2E0D-FC3639767AC2}"/>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6704631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B9AC18C-2F03-D641-B99E-099FAA026F07}"/>
              </a:ext>
            </a:extLst>
          </p:cNvPr>
          <p:cNvSpPr txBox="1"/>
          <p:nvPr userDrawn="1">
            <p:extLst>
              <p:ext uri="{1162E1C5-73C7-4A58-AE30-91384D911F3F}">
                <p184:classification xmlns:p184="http://schemas.microsoft.com/office/powerpoint/2018/4/main" val="ftr"/>
              </p:ext>
            </p:extLst>
          </p:nvPr>
        </p:nvSpPr>
        <p:spPr>
          <a:xfrm>
            <a:off x="63500" y="4958080"/>
            <a:ext cx="942975" cy="121920"/>
          </a:xfrm>
          <a:prstGeom prst="rect">
            <a:avLst/>
          </a:prstGeom>
        </p:spPr>
        <p:txBody>
          <a:bodyPr horzOverflow="overflow" lIns="0" tIns="0" rIns="0" bIns="0">
            <a:spAutoFit/>
          </a:bodyPr>
          <a:lstStyle/>
          <a:p>
            <a:pPr algn="l"/>
            <a:r>
              <a:rPr lang="en-US" sz="800">
                <a:solidFill>
                  <a:srgbClr val="000000">
                    <a:alpha val="50000"/>
                  </a:srgbClr>
                </a:solidFill>
                <a:latin typeface="Aptos" panose="020B0004020202020204" pitchFamily="34" charset="0"/>
              </a:rPr>
              <a:t>Classified as Internal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A1A2E"/>
        </a:solidFill>
        <a:effectLst/>
      </p:bgPr>
    </p:bg>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F969C"/>
          </a:solidFill>
        </p:spPr>
        <p:txBody>
          <a:bodyPr/>
          <a:lstStyle/>
          <a:p>
            <a:endParaRPr lang="en-US"/>
          </a:p>
        </p:txBody>
      </p:sp>
      <p:sp>
        <p:nvSpPr>
          <p:cNvPr id="3" name="Text 1"/>
          <p:cNvSpPr/>
          <p:nvPr/>
        </p:nvSpPr>
        <p:spPr>
          <a:xfrm>
            <a:off x="548640" y="1280160"/>
            <a:ext cx="7315200" cy="822960"/>
          </a:xfrm>
          <a:prstGeom prst="rect">
            <a:avLst/>
          </a:prstGeom>
          <a:noFill/>
        </p:spPr>
        <p:txBody>
          <a:bodyPr wrap="square" lIns="0" tIns="0" rIns="0" bIns="0" rtlCol="0" anchor="ctr"/>
          <a:lstStyle/>
          <a:p>
            <a:pPr marL="0" indent="0">
              <a:buNone/>
            </a:pPr>
            <a:r>
              <a:rPr lang="en-US" sz="4400" b="1" dirty="0">
                <a:solidFill>
                  <a:srgbClr val="FFFFFF"/>
                </a:solidFill>
                <a:latin typeface="Calibri" panose="020F0502020204030204" pitchFamily="34" charset="0"/>
                <a:ea typeface="Calibri" panose="020F0502020204030204" pitchFamily="34" charset="-122"/>
                <a:cs typeface="Calibri" panose="020F0502020204030204" pitchFamily="34" charset="-120"/>
              </a:rPr>
              <a:t>Skills A</a:t>
            </a:r>
            <a:r>
              <a:rPr lang="en-US" altLang="zh-CN" sz="4400" b="1" dirty="0">
                <a:solidFill>
                  <a:srgbClr val="FFFFFF"/>
                </a:solidFill>
                <a:latin typeface="Calibri" panose="020F0502020204030204" pitchFamily="34" charset="0"/>
                <a:ea typeface="Calibri" panose="020F0502020204030204" pitchFamily="34" charset="-122"/>
                <a:cs typeface="Calibri" panose="020F0502020204030204" pitchFamily="34" charset="-120"/>
              </a:rPr>
              <a:t>uto Generation</a:t>
            </a:r>
            <a:endParaRPr lang="en-US" sz="4400" dirty="0"/>
          </a:p>
        </p:txBody>
      </p:sp>
      <p:sp>
        <p:nvSpPr>
          <p:cNvPr id="4" name="TextBox 3">
            <a:extLst>
              <a:ext uri="{FF2B5EF4-FFF2-40B4-BE49-F238E27FC236}">
                <a16:creationId xmlns:a16="http://schemas.microsoft.com/office/drawing/2014/main" id="{791FFCAA-865A-A698-F1CF-3279040E6ABE}"/>
              </a:ext>
            </a:extLst>
          </p:cNvPr>
          <p:cNvSpPr txBox="1"/>
          <p:nvPr/>
        </p:nvSpPr>
        <p:spPr>
          <a:xfrm>
            <a:off x="466714" y="2248584"/>
            <a:ext cx="7315200" cy="646331"/>
          </a:xfrm>
          <a:prstGeom prst="rect">
            <a:avLst/>
          </a:prstGeom>
          <a:noFill/>
        </p:spPr>
        <p:txBody>
          <a:bodyPr wrap="square" rtlCol="0">
            <a:spAutoFit/>
          </a:bodyPr>
          <a:lstStyle/>
          <a:p>
            <a:r>
              <a:rPr lang="en-US" b="1" dirty="0">
                <a:solidFill>
                  <a:schemeClr val="bg1"/>
                </a:solidFill>
              </a:rPr>
              <a:t>identify recurring, high-value task patterns and workflows from these conversations, and capture them as reusable Skills</a:t>
            </a:r>
            <a:endParaRPr lang="en-US"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D2068-039B-0EB2-ED0A-68D909404FC9}"/>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DF66235F-76F0-1217-F3F9-433F86077487}"/>
              </a:ext>
            </a:extLst>
          </p:cNvPr>
          <p:cNvSpPr/>
          <p:nvPr/>
        </p:nvSpPr>
        <p:spPr>
          <a:xfrm>
            <a:off x="0" y="0"/>
            <a:ext cx="73152" cy="5143500"/>
          </a:xfrm>
          <a:prstGeom prst="rect">
            <a:avLst/>
          </a:prstGeom>
          <a:solidFill>
            <a:srgbClr val="0F969C"/>
          </a:solidFill>
        </p:spPr>
        <p:txBody>
          <a:bodyPr/>
          <a:lstStyle/>
          <a:p>
            <a:endParaRPr lang="en-US"/>
          </a:p>
        </p:txBody>
      </p:sp>
      <p:sp>
        <p:nvSpPr>
          <p:cNvPr id="3" name="Text 1">
            <a:extLst>
              <a:ext uri="{FF2B5EF4-FFF2-40B4-BE49-F238E27FC236}">
                <a16:creationId xmlns:a16="http://schemas.microsoft.com/office/drawing/2014/main" id="{52F29B91-F975-8AFC-8854-FC4B69096A86}"/>
              </a:ext>
            </a:extLst>
          </p:cNvPr>
          <p:cNvSpPr/>
          <p:nvPr/>
        </p:nvSpPr>
        <p:spPr>
          <a:xfrm>
            <a:off x="457200" y="320040"/>
            <a:ext cx="8229600" cy="548640"/>
          </a:xfrm>
          <a:prstGeom prst="rect">
            <a:avLst/>
          </a:prstGeom>
          <a:noFill/>
        </p:spPr>
        <p:txBody>
          <a:bodyPr wrap="square" lIns="0" tIns="0" rIns="0" bIns="0" rtlCol="0" anchor="ctr"/>
          <a:lstStyle/>
          <a:p>
            <a:r>
              <a:rPr lang="en-US" sz="2400" b="1" dirty="0">
                <a:solidFill>
                  <a:srgbClr val="111827"/>
                </a:solidFill>
                <a:latin typeface="Calibri" panose="020F0502020204030204" pitchFamily="34" charset="0"/>
                <a:ea typeface="Calibri" panose="020F0502020204030204" pitchFamily="34" charset="-122"/>
                <a:cs typeface="Calibri" panose="020F0502020204030204" pitchFamily="34" charset="-120"/>
              </a:rPr>
              <a:t>V</a:t>
            </a:r>
            <a:r>
              <a:rPr lang="en-US" altLang="zh-CN" sz="2400" b="1" dirty="0">
                <a:solidFill>
                  <a:srgbClr val="111827"/>
                </a:solidFill>
                <a:latin typeface="Calibri" panose="020F0502020204030204" pitchFamily="34" charset="0"/>
                <a:ea typeface="Calibri" panose="020F0502020204030204" pitchFamily="34" charset="-122"/>
                <a:cs typeface="Calibri" panose="020F0502020204030204" pitchFamily="34" charset="-120"/>
              </a:rPr>
              <a:t>alue</a:t>
            </a:r>
            <a:r>
              <a:rPr lang="en-US" sz="2400" b="1" dirty="0">
                <a:solidFill>
                  <a:srgbClr val="111827"/>
                </a:solidFill>
                <a:latin typeface="Calibri" panose="020F0502020204030204" pitchFamily="34" charset="0"/>
                <a:ea typeface="Calibri" panose="020F0502020204030204" pitchFamily="34" charset="-122"/>
                <a:cs typeface="Calibri" panose="020F0502020204030204" pitchFamily="34" charset="-120"/>
              </a:rPr>
              <a:t> &amp; Opportunities </a:t>
            </a:r>
            <a:endParaRPr lang="en-US" sz="2400" dirty="0"/>
          </a:p>
        </p:txBody>
      </p:sp>
      <p:sp>
        <p:nvSpPr>
          <p:cNvPr id="4" name="Text 2">
            <a:extLst>
              <a:ext uri="{FF2B5EF4-FFF2-40B4-BE49-F238E27FC236}">
                <a16:creationId xmlns:a16="http://schemas.microsoft.com/office/drawing/2014/main" id="{9CED0001-BFB5-8E4E-32F8-ADBD01F1BAEE}"/>
              </a:ext>
            </a:extLst>
          </p:cNvPr>
          <p:cNvSpPr/>
          <p:nvPr/>
        </p:nvSpPr>
        <p:spPr>
          <a:xfrm>
            <a:off x="8046720" y="4846320"/>
            <a:ext cx="914400" cy="228600"/>
          </a:xfrm>
          <a:prstGeom prst="rect">
            <a:avLst/>
          </a:prstGeom>
          <a:noFill/>
        </p:spPr>
        <p:txBody>
          <a:bodyPr wrap="square" lIns="0" tIns="0" rIns="0" bIns="0" rtlCol="0" anchor="ctr"/>
          <a:lstStyle/>
          <a:p>
            <a:pPr marL="0" indent="0" algn="r">
              <a:buNone/>
            </a:pPr>
            <a:r>
              <a:rPr lang="en-US" sz="800" dirty="0">
                <a:solidFill>
                  <a:srgbClr val="9CA3AF"/>
                </a:solidFill>
                <a:latin typeface="Calibri" panose="020F0502020204030204" pitchFamily="34" charset="0"/>
                <a:ea typeface="Calibri" panose="020F0502020204030204" pitchFamily="34" charset="-122"/>
                <a:cs typeface="Calibri" panose="020F0502020204030204" pitchFamily="34" charset="-120"/>
              </a:rPr>
              <a:t>2 / 15</a:t>
            </a:r>
            <a:endParaRPr lang="en-US" sz="800" dirty="0"/>
          </a:p>
        </p:txBody>
      </p:sp>
      <p:sp>
        <p:nvSpPr>
          <p:cNvPr id="5" name="Shape 3">
            <a:extLst>
              <a:ext uri="{FF2B5EF4-FFF2-40B4-BE49-F238E27FC236}">
                <a16:creationId xmlns:a16="http://schemas.microsoft.com/office/drawing/2014/main" id="{01B58ED0-6CF6-508F-2DB8-C05C570DF9A3}"/>
              </a:ext>
            </a:extLst>
          </p:cNvPr>
          <p:cNvSpPr/>
          <p:nvPr/>
        </p:nvSpPr>
        <p:spPr>
          <a:xfrm>
            <a:off x="382694" y="1010412"/>
            <a:ext cx="8229600" cy="1558343"/>
          </a:xfrm>
          <a:prstGeom prst="rect">
            <a:avLst/>
          </a:prstGeom>
          <a:solidFill>
            <a:srgbClr val="FFFBEB"/>
          </a:solidFill>
          <a:ln w="10160">
            <a:solidFill>
              <a:srgbClr val="B45309"/>
            </a:solidFill>
            <a:prstDash val="solid"/>
          </a:ln>
        </p:spPr>
        <p:txBody>
          <a:bodyPr/>
          <a:lstStyle/>
          <a:p>
            <a:endParaRPr lang="en-US"/>
          </a:p>
        </p:txBody>
      </p:sp>
      <p:sp>
        <p:nvSpPr>
          <p:cNvPr id="6" name="Text 4">
            <a:extLst>
              <a:ext uri="{FF2B5EF4-FFF2-40B4-BE49-F238E27FC236}">
                <a16:creationId xmlns:a16="http://schemas.microsoft.com/office/drawing/2014/main" id="{24CD7D9A-9A3A-3CB5-CA34-64B3705B77CE}"/>
              </a:ext>
            </a:extLst>
          </p:cNvPr>
          <p:cNvSpPr/>
          <p:nvPr/>
        </p:nvSpPr>
        <p:spPr>
          <a:xfrm>
            <a:off x="531706" y="1130563"/>
            <a:ext cx="7863840" cy="1230753"/>
          </a:xfrm>
          <a:prstGeom prst="rect">
            <a:avLst/>
          </a:prstGeom>
          <a:noFill/>
        </p:spPr>
        <p:txBody>
          <a:bodyPr wrap="square" lIns="0" tIns="0" rIns="0" bIns="0" rtlCol="0" anchor="ctr"/>
          <a:lstStyle/>
          <a:p>
            <a:r>
              <a:rPr lang="en-US" sz="1400" dirty="0"/>
              <a:t>Our Playground continuously accumulates a large volume of real user conversations every day, capturing users’ actual tasks, workflows, and patterns of AI usage. However, users still perform a significant amount of repetitive work that could otherwise be handled by the system, such as repeatedly providing the same context, correcting domain-specific knowledge, and adapting outputs to required formats. These issues arise because relevant context, rules, and practical knowledge are not effectively captured and systematized, leaving users to repeatedly provide and correct the same information across conversations.</a:t>
            </a:r>
          </a:p>
        </p:txBody>
      </p:sp>
      <p:sp>
        <p:nvSpPr>
          <p:cNvPr id="8" name="Text 6">
            <a:extLst>
              <a:ext uri="{FF2B5EF4-FFF2-40B4-BE49-F238E27FC236}">
                <a16:creationId xmlns:a16="http://schemas.microsoft.com/office/drawing/2014/main" id="{BC84B1F5-625E-7474-0765-57877EAF2958}"/>
              </a:ext>
            </a:extLst>
          </p:cNvPr>
          <p:cNvSpPr/>
          <p:nvPr/>
        </p:nvSpPr>
        <p:spPr>
          <a:xfrm>
            <a:off x="457200" y="2697480"/>
            <a:ext cx="292608" cy="29260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12" name="Text 10">
            <a:extLst>
              <a:ext uri="{FF2B5EF4-FFF2-40B4-BE49-F238E27FC236}">
                <a16:creationId xmlns:a16="http://schemas.microsoft.com/office/drawing/2014/main" id="{00E60A83-6541-07C4-063D-102B75F7962F}"/>
              </a:ext>
            </a:extLst>
          </p:cNvPr>
          <p:cNvSpPr/>
          <p:nvPr/>
        </p:nvSpPr>
        <p:spPr>
          <a:xfrm>
            <a:off x="457200" y="3447288"/>
            <a:ext cx="292608" cy="29260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20" name="Shape 3">
            <a:extLst>
              <a:ext uri="{FF2B5EF4-FFF2-40B4-BE49-F238E27FC236}">
                <a16:creationId xmlns:a16="http://schemas.microsoft.com/office/drawing/2014/main" id="{A0D7D714-D848-B8F8-90E9-AF22722BC7D1}"/>
              </a:ext>
            </a:extLst>
          </p:cNvPr>
          <p:cNvSpPr/>
          <p:nvPr/>
        </p:nvSpPr>
        <p:spPr>
          <a:xfrm>
            <a:off x="375915" y="2940642"/>
            <a:ext cx="8236379" cy="806027"/>
          </a:xfrm>
          <a:prstGeom prst="rect">
            <a:avLst/>
          </a:prstGeom>
          <a:solidFill>
            <a:srgbClr val="EFF6FF"/>
          </a:solidFill>
          <a:ln w="12700">
            <a:solidFill>
              <a:srgbClr val="0F969C"/>
            </a:solidFill>
            <a:prstDash val="solid"/>
          </a:ln>
        </p:spPr>
        <p:txBody>
          <a:bodyPr/>
          <a:lstStyle/>
          <a:p>
            <a:r>
              <a:rPr lang="en-US" sz="1600" b="1" dirty="0"/>
              <a:t>Skill Mining provides an opportunity to identify recurring, high-value task patterns and workflows from these conversations, and systematically capture them as reusable Skills.</a:t>
            </a:r>
            <a:r>
              <a:rPr lang="en-US" sz="1600" dirty="0"/>
              <a:t> </a:t>
            </a:r>
          </a:p>
          <a:p>
            <a:r>
              <a:rPr lang="en-US" sz="1200" dirty="0"/>
              <a:t>This can reduce repetitive effort, improve output consistency, and enable users to complete common tasks more efficiently.</a:t>
            </a:r>
          </a:p>
        </p:txBody>
      </p:sp>
    </p:spTree>
    <p:extLst>
      <p:ext uri="{BB962C8B-B14F-4D97-AF65-F5344CB8AC3E}">
        <p14:creationId xmlns:p14="http://schemas.microsoft.com/office/powerpoint/2010/main" val="31495595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p:cNvSpPr/>
          <p:nvPr/>
        </p:nvSpPr>
        <p:spPr>
          <a:xfrm>
            <a:off x="274312" y="218161"/>
            <a:ext cx="8514085" cy="548640"/>
          </a:xfrm>
          <a:prstGeom prst="rect">
            <a:avLst/>
          </a:prstGeom>
          <a:noFill/>
        </p:spPr>
        <p:txBody>
          <a:bodyPr wrap="square" lIns="0" tIns="0" rIns="0" bIns="0" rtlCol="0" anchor="ctr"/>
          <a:lstStyle/>
          <a:p>
            <a:r>
              <a:rPr lang="en-US" sz="2800" b="1" dirty="0"/>
              <a:t>What Kinds of Tasks Are Suitable for Distillation into Skills</a:t>
            </a:r>
            <a:r>
              <a:rPr lang="zh-CN" altLang="en-US" sz="2800" b="1" dirty="0"/>
              <a:t>？</a:t>
            </a:r>
            <a:endParaRPr lang="en-US" sz="2800" b="1" dirty="0"/>
          </a:p>
        </p:txBody>
      </p:sp>
      <p:sp>
        <p:nvSpPr>
          <p:cNvPr id="79" name="Shape 5">
            <a:extLst>
              <a:ext uri="{FF2B5EF4-FFF2-40B4-BE49-F238E27FC236}">
                <a16:creationId xmlns:a16="http://schemas.microsoft.com/office/drawing/2014/main" id="{51005F50-DBC0-14A2-AB50-9DE3F816EF24}"/>
              </a:ext>
            </a:extLst>
          </p:cNvPr>
          <p:cNvSpPr/>
          <p:nvPr/>
        </p:nvSpPr>
        <p:spPr>
          <a:xfrm>
            <a:off x="325115" y="1689521"/>
            <a:ext cx="292608" cy="292608"/>
          </a:xfrm>
          <a:prstGeom prst="ellipse">
            <a:avLst/>
          </a:prstGeom>
          <a:solidFill>
            <a:srgbClr val="0F969C"/>
          </a:solidFill>
        </p:spPr>
        <p:txBody>
          <a:bodyPr/>
          <a:lstStyle/>
          <a:p>
            <a:endParaRPr lang="en-US"/>
          </a:p>
        </p:txBody>
      </p:sp>
      <p:sp>
        <p:nvSpPr>
          <p:cNvPr id="81" name="Text 6">
            <a:extLst>
              <a:ext uri="{FF2B5EF4-FFF2-40B4-BE49-F238E27FC236}">
                <a16:creationId xmlns:a16="http://schemas.microsoft.com/office/drawing/2014/main" id="{7DEF3424-0E07-BA9C-885B-86475F1E2FEB}"/>
              </a:ext>
            </a:extLst>
          </p:cNvPr>
          <p:cNvSpPr/>
          <p:nvPr/>
        </p:nvSpPr>
        <p:spPr>
          <a:xfrm>
            <a:off x="325115" y="1689521"/>
            <a:ext cx="292608" cy="29260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300" dirty="0"/>
          </a:p>
        </p:txBody>
      </p:sp>
      <p:sp>
        <p:nvSpPr>
          <p:cNvPr id="83" name="Text 7">
            <a:extLst>
              <a:ext uri="{FF2B5EF4-FFF2-40B4-BE49-F238E27FC236}">
                <a16:creationId xmlns:a16="http://schemas.microsoft.com/office/drawing/2014/main" id="{6D0CDB29-0B42-0BD0-9B92-45DE029565D4}"/>
              </a:ext>
            </a:extLst>
          </p:cNvPr>
          <p:cNvSpPr/>
          <p:nvPr/>
        </p:nvSpPr>
        <p:spPr>
          <a:xfrm>
            <a:off x="782315" y="1643801"/>
            <a:ext cx="7315200" cy="256032"/>
          </a:xfrm>
          <a:prstGeom prst="rect">
            <a:avLst/>
          </a:prstGeom>
          <a:noFill/>
        </p:spPr>
        <p:txBody>
          <a:bodyPr wrap="square" lIns="0" tIns="0" rIns="0" bIns="0" rtlCol="0" anchor="ctr"/>
          <a:lstStyle/>
          <a:p>
            <a:r>
              <a:rPr lang="en-US" sz="1400" b="1" dirty="0"/>
              <a:t>Repeated occurrence</a:t>
            </a:r>
            <a:endParaRPr lang="en-US" sz="1400" dirty="0"/>
          </a:p>
        </p:txBody>
      </p:sp>
      <p:sp>
        <p:nvSpPr>
          <p:cNvPr id="85" name="Text 8">
            <a:extLst>
              <a:ext uri="{FF2B5EF4-FFF2-40B4-BE49-F238E27FC236}">
                <a16:creationId xmlns:a16="http://schemas.microsoft.com/office/drawing/2014/main" id="{C75DB8F8-44AA-F4E2-7583-2C43213FC558}"/>
              </a:ext>
            </a:extLst>
          </p:cNvPr>
          <p:cNvSpPr/>
          <p:nvPr/>
        </p:nvSpPr>
        <p:spPr>
          <a:xfrm>
            <a:off x="782315" y="1918121"/>
            <a:ext cx="7498080" cy="365760"/>
          </a:xfrm>
          <a:prstGeom prst="rect">
            <a:avLst/>
          </a:prstGeom>
          <a:noFill/>
        </p:spPr>
        <p:txBody>
          <a:bodyPr wrap="square" lIns="0" tIns="0" rIns="0" bIns="0" rtlCol="0" anchor="ctr"/>
          <a:lstStyle/>
          <a:p>
            <a:pPr marL="0" indent="0">
              <a:buNone/>
            </a:pPr>
            <a:r>
              <a:rPr lang="en-US" sz="1100" dirty="0">
                <a:solidFill>
                  <a:srgbClr val="4B5563"/>
                </a:solidFill>
                <a:latin typeface="Calibri" panose="020F0502020204030204" pitchFamily="34" charset="0"/>
                <a:ea typeface="Calibri" panose="020F0502020204030204" pitchFamily="34" charset="-122"/>
                <a:cs typeface="Calibri" panose="020F0502020204030204" pitchFamily="34" charset="-120"/>
              </a:rPr>
              <a:t>Similar tasks appear repeatedly across multiple sessions, ideally across different users, rather than being a one-off individual request.</a:t>
            </a:r>
            <a:endParaRPr lang="en-US" sz="1100" dirty="0"/>
          </a:p>
        </p:txBody>
      </p:sp>
      <p:sp>
        <p:nvSpPr>
          <p:cNvPr id="87" name="Shape 9">
            <a:extLst>
              <a:ext uri="{FF2B5EF4-FFF2-40B4-BE49-F238E27FC236}">
                <a16:creationId xmlns:a16="http://schemas.microsoft.com/office/drawing/2014/main" id="{B67A5DAB-B6AD-E5AC-E560-89D4BEE38E91}"/>
              </a:ext>
            </a:extLst>
          </p:cNvPr>
          <p:cNvSpPr/>
          <p:nvPr/>
        </p:nvSpPr>
        <p:spPr>
          <a:xfrm>
            <a:off x="325115" y="2439329"/>
            <a:ext cx="292608" cy="292608"/>
          </a:xfrm>
          <a:prstGeom prst="ellipse">
            <a:avLst/>
          </a:prstGeom>
          <a:solidFill>
            <a:srgbClr val="0F969C"/>
          </a:solidFill>
        </p:spPr>
        <p:txBody>
          <a:bodyPr/>
          <a:lstStyle/>
          <a:p>
            <a:endParaRPr lang="en-US"/>
          </a:p>
        </p:txBody>
      </p:sp>
      <p:sp>
        <p:nvSpPr>
          <p:cNvPr id="89" name="Text 10">
            <a:extLst>
              <a:ext uri="{FF2B5EF4-FFF2-40B4-BE49-F238E27FC236}">
                <a16:creationId xmlns:a16="http://schemas.microsoft.com/office/drawing/2014/main" id="{6BD99E52-24E6-64FF-9C7B-946B2670714E}"/>
              </a:ext>
            </a:extLst>
          </p:cNvPr>
          <p:cNvSpPr/>
          <p:nvPr/>
        </p:nvSpPr>
        <p:spPr>
          <a:xfrm>
            <a:off x="325115" y="2439329"/>
            <a:ext cx="292608" cy="29260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300" dirty="0"/>
          </a:p>
        </p:txBody>
      </p:sp>
      <p:sp>
        <p:nvSpPr>
          <p:cNvPr id="91" name="Text 11">
            <a:extLst>
              <a:ext uri="{FF2B5EF4-FFF2-40B4-BE49-F238E27FC236}">
                <a16:creationId xmlns:a16="http://schemas.microsoft.com/office/drawing/2014/main" id="{2864693C-CB90-8FEB-09BA-FF5BC504EAD4}"/>
              </a:ext>
            </a:extLst>
          </p:cNvPr>
          <p:cNvSpPr/>
          <p:nvPr/>
        </p:nvSpPr>
        <p:spPr>
          <a:xfrm>
            <a:off x="782315" y="2393609"/>
            <a:ext cx="7315200" cy="256032"/>
          </a:xfrm>
          <a:prstGeom prst="rect">
            <a:avLst/>
          </a:prstGeom>
          <a:noFill/>
        </p:spPr>
        <p:txBody>
          <a:bodyPr wrap="square" lIns="0" tIns="0" rIns="0" bIns="0" rtlCol="0" anchor="ctr"/>
          <a:lstStyle/>
          <a:p>
            <a:r>
              <a:rPr lang="en-US" sz="1400" b="1" dirty="0"/>
              <a:t>The model falls short by default</a:t>
            </a:r>
          </a:p>
        </p:txBody>
      </p:sp>
      <p:sp>
        <p:nvSpPr>
          <p:cNvPr id="93" name="Text 12">
            <a:extLst>
              <a:ext uri="{FF2B5EF4-FFF2-40B4-BE49-F238E27FC236}">
                <a16:creationId xmlns:a16="http://schemas.microsoft.com/office/drawing/2014/main" id="{1E36C6E4-8153-798D-4CEC-846C1ED90EEE}"/>
              </a:ext>
            </a:extLst>
          </p:cNvPr>
          <p:cNvSpPr/>
          <p:nvPr/>
        </p:nvSpPr>
        <p:spPr>
          <a:xfrm>
            <a:off x="782315" y="2667929"/>
            <a:ext cx="7498080" cy="365760"/>
          </a:xfrm>
          <a:prstGeom prst="rect">
            <a:avLst/>
          </a:prstGeom>
          <a:noFill/>
        </p:spPr>
        <p:txBody>
          <a:bodyPr wrap="square" lIns="0" tIns="0" rIns="0" bIns="0" rtlCol="0" anchor="ctr"/>
          <a:lstStyle/>
          <a:p>
            <a:pPr marL="0" indent="0">
              <a:buNone/>
            </a:pPr>
            <a:r>
              <a:rPr lang="en-US" sz="1100" dirty="0">
                <a:solidFill>
                  <a:srgbClr val="4B5563"/>
                </a:solidFill>
                <a:latin typeface="Calibri" panose="020F0502020204030204" pitchFamily="34" charset="0"/>
                <a:ea typeface="Calibri" panose="020F0502020204030204" pitchFamily="34" charset="-122"/>
                <a:cs typeface="Calibri" panose="020F0502020204030204" pitchFamily="34" charset="-120"/>
              </a:rPr>
              <a:t>The task depends on company-specific conventions, terminology, business rules, processes, or API schemas. Without this information, the model is prone to errors or inconsistent results.</a:t>
            </a:r>
          </a:p>
        </p:txBody>
      </p:sp>
      <p:sp>
        <p:nvSpPr>
          <p:cNvPr id="95" name="Shape 13">
            <a:extLst>
              <a:ext uri="{FF2B5EF4-FFF2-40B4-BE49-F238E27FC236}">
                <a16:creationId xmlns:a16="http://schemas.microsoft.com/office/drawing/2014/main" id="{B787D1D9-265D-02E4-690A-0D512D68AD87}"/>
              </a:ext>
            </a:extLst>
          </p:cNvPr>
          <p:cNvSpPr/>
          <p:nvPr/>
        </p:nvSpPr>
        <p:spPr>
          <a:xfrm>
            <a:off x="325115" y="3189137"/>
            <a:ext cx="292608" cy="292608"/>
          </a:xfrm>
          <a:prstGeom prst="ellipse">
            <a:avLst/>
          </a:prstGeom>
          <a:solidFill>
            <a:srgbClr val="0F969C"/>
          </a:solidFill>
        </p:spPr>
        <p:txBody>
          <a:bodyPr/>
          <a:lstStyle/>
          <a:p>
            <a:endParaRPr lang="en-US"/>
          </a:p>
        </p:txBody>
      </p:sp>
      <p:sp>
        <p:nvSpPr>
          <p:cNvPr id="97" name="Text 14">
            <a:extLst>
              <a:ext uri="{FF2B5EF4-FFF2-40B4-BE49-F238E27FC236}">
                <a16:creationId xmlns:a16="http://schemas.microsoft.com/office/drawing/2014/main" id="{92353B8B-B36C-E6F0-2B37-581D55BC4499}"/>
              </a:ext>
            </a:extLst>
          </p:cNvPr>
          <p:cNvSpPr/>
          <p:nvPr/>
        </p:nvSpPr>
        <p:spPr>
          <a:xfrm>
            <a:off x="325115" y="3189137"/>
            <a:ext cx="292608" cy="292608"/>
          </a:xfrm>
          <a:prstGeom prst="rect">
            <a:avLst/>
          </a:prstGeom>
          <a:noFill/>
        </p:spPr>
        <p:txBody>
          <a:bodyPr wrap="square" lIns="0" tIns="0" rIns="0" bIns="0" rtlCol="0" anchor="ctr"/>
          <a:lstStyle/>
          <a:p>
            <a:pPr marL="0" indent="0" algn="ctr">
              <a:buNone/>
            </a:pPr>
            <a:r>
              <a:rPr lang="en-US" sz="13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300" dirty="0"/>
          </a:p>
        </p:txBody>
      </p:sp>
      <p:sp>
        <p:nvSpPr>
          <p:cNvPr id="99" name="Text 15">
            <a:extLst>
              <a:ext uri="{FF2B5EF4-FFF2-40B4-BE49-F238E27FC236}">
                <a16:creationId xmlns:a16="http://schemas.microsoft.com/office/drawing/2014/main" id="{047C70F8-5572-2579-AC8B-8491BA7486A8}"/>
              </a:ext>
            </a:extLst>
          </p:cNvPr>
          <p:cNvSpPr/>
          <p:nvPr/>
        </p:nvSpPr>
        <p:spPr>
          <a:xfrm>
            <a:off x="782315" y="3143417"/>
            <a:ext cx="7315200" cy="256032"/>
          </a:xfrm>
          <a:prstGeom prst="rect">
            <a:avLst/>
          </a:prstGeom>
          <a:noFill/>
        </p:spPr>
        <p:txBody>
          <a:bodyPr wrap="square" lIns="0" tIns="0" rIns="0" bIns="0" rtlCol="0" anchor="ctr"/>
          <a:lstStyle/>
          <a:p>
            <a:r>
              <a:rPr lang="en-US" sz="1400" b="1" dirty="0"/>
              <a:t>Stable execution and output pattern</a:t>
            </a:r>
          </a:p>
        </p:txBody>
      </p:sp>
      <p:sp>
        <p:nvSpPr>
          <p:cNvPr id="101" name="Text 16">
            <a:extLst>
              <a:ext uri="{FF2B5EF4-FFF2-40B4-BE49-F238E27FC236}">
                <a16:creationId xmlns:a16="http://schemas.microsoft.com/office/drawing/2014/main" id="{66586399-131E-D83F-48B9-A35FA0D94D9D}"/>
              </a:ext>
            </a:extLst>
          </p:cNvPr>
          <p:cNvSpPr/>
          <p:nvPr/>
        </p:nvSpPr>
        <p:spPr>
          <a:xfrm>
            <a:off x="782315" y="3417737"/>
            <a:ext cx="7315200" cy="365760"/>
          </a:xfrm>
          <a:prstGeom prst="rect">
            <a:avLst/>
          </a:prstGeom>
          <a:noFill/>
        </p:spPr>
        <p:txBody>
          <a:bodyPr wrap="square" lIns="0" tIns="0" rIns="0" bIns="0" rtlCol="0" anchor="ctr"/>
          <a:lstStyle/>
          <a:p>
            <a:pPr marL="0" indent="0">
              <a:buNone/>
            </a:pPr>
            <a:r>
              <a:rPr lang="en-US" sz="1100" dirty="0">
                <a:solidFill>
                  <a:srgbClr val="4B5563"/>
                </a:solidFill>
                <a:latin typeface="Calibri" panose="020F0502020204030204" pitchFamily="34" charset="0"/>
                <a:ea typeface="Calibri" panose="020F0502020204030204" pitchFamily="34" charset="-122"/>
                <a:cs typeface="Calibri" panose="020F0502020204030204" pitchFamily="34" charset="-120"/>
              </a:rPr>
              <a:t>The task can be abstracted into a relatively stable execution procedure, e.g., “When X occurs, execute A → B → C, and output in the form of D.”</a:t>
            </a:r>
          </a:p>
        </p:txBody>
      </p:sp>
      <p:sp>
        <p:nvSpPr>
          <p:cNvPr id="105" name="Shape 18">
            <a:extLst>
              <a:ext uri="{FF2B5EF4-FFF2-40B4-BE49-F238E27FC236}">
                <a16:creationId xmlns:a16="http://schemas.microsoft.com/office/drawing/2014/main" id="{FA307F95-AC2A-24C6-EBEC-3663FD8D448D}"/>
              </a:ext>
            </a:extLst>
          </p:cNvPr>
          <p:cNvSpPr/>
          <p:nvPr/>
        </p:nvSpPr>
        <p:spPr>
          <a:xfrm>
            <a:off x="318337" y="3938945"/>
            <a:ext cx="8114463" cy="457200"/>
          </a:xfrm>
          <a:prstGeom prst="rect">
            <a:avLst/>
          </a:prstGeom>
          <a:solidFill>
            <a:srgbClr val="FFFBEB"/>
          </a:solidFill>
        </p:spPr>
        <p:txBody>
          <a:bodyPr/>
          <a:lstStyle/>
          <a:p>
            <a:r>
              <a:rPr lang="en-US" sz="1200" dirty="0"/>
              <a:t>Conversely, general knowledge Q&amp;A, one-off tasks, and chit-chat requests that the model can already handle reliably generally do not warrant distillation into Skills.</a:t>
            </a:r>
          </a:p>
          <a:p>
            <a:endParaRPr lang="en-US" dirty="0"/>
          </a:p>
        </p:txBody>
      </p:sp>
      <p:sp>
        <p:nvSpPr>
          <p:cNvPr id="107" name="Shape 3">
            <a:extLst>
              <a:ext uri="{FF2B5EF4-FFF2-40B4-BE49-F238E27FC236}">
                <a16:creationId xmlns:a16="http://schemas.microsoft.com/office/drawing/2014/main" id="{B654AF92-2A17-EFCA-1891-02C72AC4334D}"/>
              </a:ext>
            </a:extLst>
          </p:cNvPr>
          <p:cNvSpPr/>
          <p:nvPr/>
        </p:nvSpPr>
        <p:spPr>
          <a:xfrm>
            <a:off x="318337" y="844525"/>
            <a:ext cx="7962058" cy="587715"/>
          </a:xfrm>
          <a:prstGeom prst="rect">
            <a:avLst/>
          </a:prstGeom>
          <a:solidFill>
            <a:srgbClr val="EFF6FF"/>
          </a:solidFill>
          <a:ln w="12700">
            <a:solidFill>
              <a:srgbClr val="0F969C"/>
            </a:solidFill>
            <a:prstDash val="solid"/>
          </a:ln>
        </p:spPr>
        <p:txBody>
          <a:bodyPr/>
          <a:lstStyle/>
          <a:p>
            <a:r>
              <a:rPr lang="en-US" b="1" dirty="0"/>
              <a:t>3. Three Necessary Conditions</a:t>
            </a:r>
            <a:endParaRPr lang="en-US" sz="1400" b="1" dirty="0"/>
          </a:p>
          <a:p>
            <a:r>
              <a:rPr lang="en-US" sz="1400" dirty="0"/>
              <a:t>For a task to have value for distillation into a Skill, it should in principle satisfy </a:t>
            </a:r>
            <a:r>
              <a:rPr lang="en-US" altLang="zh-CN" sz="1400" dirty="0"/>
              <a:t>these</a:t>
            </a:r>
            <a:r>
              <a:rPr lang="en-US" sz="1400" dirty="0"/>
              <a:t> three conditions</a:t>
            </a:r>
            <a:endParaRPr lang="en-US" sz="500" dirty="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73152" cy="5143500"/>
          </a:xfrm>
          <a:prstGeom prst="rect">
            <a:avLst/>
          </a:prstGeom>
          <a:solidFill>
            <a:srgbClr val="0F969C"/>
          </a:solidFill>
        </p:spPr>
        <p:txBody>
          <a:bodyPr/>
          <a:lstStyle/>
          <a:p>
            <a:endParaRPr lang="en-US"/>
          </a:p>
        </p:txBody>
      </p:sp>
      <p:sp>
        <p:nvSpPr>
          <p:cNvPr id="3" name="Text 1"/>
          <p:cNvSpPr/>
          <p:nvPr/>
        </p:nvSpPr>
        <p:spPr>
          <a:xfrm>
            <a:off x="457200" y="320040"/>
            <a:ext cx="8229600" cy="548640"/>
          </a:xfrm>
          <a:prstGeom prst="rect">
            <a:avLst/>
          </a:prstGeom>
          <a:noFill/>
        </p:spPr>
        <p:txBody>
          <a:bodyPr wrap="square" lIns="0" tIns="0" rIns="0" bIns="0" rtlCol="0" anchor="ctr"/>
          <a:lstStyle/>
          <a:p>
            <a:pPr marL="0" indent="0">
              <a:buNone/>
            </a:pPr>
            <a:r>
              <a:rPr lang="en-US" sz="2400" b="1" dirty="0">
                <a:solidFill>
                  <a:srgbClr val="111827"/>
                </a:solidFill>
                <a:latin typeface="Calibri" panose="020F0502020204030204" pitchFamily="34" charset="0"/>
                <a:ea typeface="Calibri" panose="020F0502020204030204" pitchFamily="34" charset="-122"/>
                <a:cs typeface="Calibri" panose="020F0502020204030204" pitchFamily="34" charset="-120"/>
              </a:rPr>
              <a:t>S</a:t>
            </a:r>
            <a:r>
              <a:rPr lang="en-US" altLang="zh-CN" sz="2400" b="1" dirty="0">
                <a:solidFill>
                  <a:srgbClr val="111827"/>
                </a:solidFill>
                <a:latin typeface="Calibri" panose="020F0502020204030204" pitchFamily="34" charset="0"/>
                <a:ea typeface="Calibri" panose="020F0502020204030204" pitchFamily="34" charset="-122"/>
                <a:cs typeface="Calibri" panose="020F0502020204030204" pitchFamily="34" charset="-120"/>
              </a:rPr>
              <a:t>kill Mining </a:t>
            </a:r>
            <a:r>
              <a:rPr lang="en-US" sz="2400" b="1" dirty="0">
                <a:solidFill>
                  <a:srgbClr val="111827"/>
                </a:solidFill>
                <a:latin typeface="Calibri" panose="020F0502020204030204" pitchFamily="34" charset="0"/>
                <a:ea typeface="Calibri" panose="020F0502020204030204" pitchFamily="34" charset="-122"/>
                <a:cs typeface="Calibri" panose="020F0502020204030204" pitchFamily="34" charset="-120"/>
              </a:rPr>
              <a:t>P</a:t>
            </a:r>
            <a:r>
              <a:rPr lang="en-US" altLang="zh-CN" sz="2400" b="1" dirty="0">
                <a:solidFill>
                  <a:srgbClr val="111827"/>
                </a:solidFill>
                <a:latin typeface="Calibri" panose="020F0502020204030204" pitchFamily="34" charset="0"/>
                <a:ea typeface="Calibri" panose="020F0502020204030204" pitchFamily="34" charset="-122"/>
                <a:cs typeface="Calibri" panose="020F0502020204030204" pitchFamily="34" charset="-120"/>
              </a:rPr>
              <a:t>ipeline </a:t>
            </a:r>
            <a:endParaRPr lang="en-US" sz="2400" dirty="0"/>
          </a:p>
        </p:txBody>
      </p:sp>
      <p:sp>
        <p:nvSpPr>
          <p:cNvPr id="4" name="Text 2"/>
          <p:cNvSpPr/>
          <p:nvPr/>
        </p:nvSpPr>
        <p:spPr>
          <a:xfrm>
            <a:off x="8046720" y="4846320"/>
            <a:ext cx="914400" cy="228600"/>
          </a:xfrm>
          <a:prstGeom prst="rect">
            <a:avLst/>
          </a:prstGeom>
          <a:noFill/>
        </p:spPr>
        <p:txBody>
          <a:bodyPr wrap="square" lIns="0" tIns="0" rIns="0" bIns="0" rtlCol="0" anchor="ctr"/>
          <a:lstStyle/>
          <a:p>
            <a:pPr marL="0" indent="0" algn="r">
              <a:buNone/>
            </a:pPr>
            <a:r>
              <a:rPr lang="en-US" sz="800" dirty="0">
                <a:solidFill>
                  <a:srgbClr val="9CA3AF"/>
                </a:solidFill>
                <a:latin typeface="Calibri" panose="020F0502020204030204" pitchFamily="34" charset="0"/>
                <a:ea typeface="Calibri" panose="020F0502020204030204" pitchFamily="34" charset="-122"/>
                <a:cs typeface="Calibri" panose="020F0502020204030204" pitchFamily="34" charset="-120"/>
              </a:rPr>
              <a:t>5 / 15</a:t>
            </a:r>
            <a:endParaRPr lang="en-US" sz="800" dirty="0"/>
          </a:p>
        </p:txBody>
      </p:sp>
      <p:sp>
        <p:nvSpPr>
          <p:cNvPr id="6" name="Shape 4"/>
          <p:cNvSpPr/>
          <p:nvPr/>
        </p:nvSpPr>
        <p:spPr>
          <a:xfrm>
            <a:off x="550467" y="1163701"/>
            <a:ext cx="320040" cy="320040"/>
          </a:xfrm>
          <a:prstGeom prst="ellipse">
            <a:avLst/>
          </a:prstGeom>
          <a:solidFill>
            <a:srgbClr val="0F969C"/>
          </a:solidFill>
        </p:spPr>
        <p:txBody>
          <a:bodyPr/>
          <a:lstStyle/>
          <a:p>
            <a:endParaRPr lang="en-US"/>
          </a:p>
        </p:txBody>
      </p:sp>
      <p:sp>
        <p:nvSpPr>
          <p:cNvPr id="7" name="Text 5"/>
          <p:cNvSpPr/>
          <p:nvPr/>
        </p:nvSpPr>
        <p:spPr>
          <a:xfrm>
            <a:off x="550467" y="1163701"/>
            <a:ext cx="320040" cy="32004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1</a:t>
            </a:r>
            <a:endParaRPr lang="en-US" sz="1200" dirty="0"/>
          </a:p>
        </p:txBody>
      </p:sp>
      <p:sp>
        <p:nvSpPr>
          <p:cNvPr id="8" name="Shape 6"/>
          <p:cNvSpPr/>
          <p:nvPr/>
        </p:nvSpPr>
        <p:spPr>
          <a:xfrm>
            <a:off x="1053386" y="1108837"/>
            <a:ext cx="1956547" cy="438912"/>
          </a:xfrm>
          <a:prstGeom prst="rect">
            <a:avLst/>
          </a:prstGeom>
          <a:solidFill>
            <a:srgbClr val="F7F9FC"/>
          </a:solidFill>
          <a:ln w="6350">
            <a:solidFill>
              <a:srgbClr val="E5E7EB"/>
            </a:solidFill>
            <a:prstDash val="solid"/>
          </a:ln>
        </p:spPr>
        <p:txBody>
          <a:bodyPr/>
          <a:lstStyle/>
          <a:p>
            <a:endParaRPr lang="en-US"/>
          </a:p>
        </p:txBody>
      </p:sp>
      <p:sp>
        <p:nvSpPr>
          <p:cNvPr id="9" name="Text 7"/>
          <p:cNvSpPr/>
          <p:nvPr/>
        </p:nvSpPr>
        <p:spPr>
          <a:xfrm>
            <a:off x="1190547" y="1108837"/>
            <a:ext cx="1463040" cy="438912"/>
          </a:xfrm>
          <a:prstGeom prst="rect">
            <a:avLst/>
          </a:prstGeom>
          <a:noFill/>
        </p:spPr>
        <p:txBody>
          <a:bodyPr wrap="square" lIns="0" tIns="0" rIns="0" bIns="0" rtlCol="0" anchor="ctr"/>
          <a:lstStyle/>
          <a:p>
            <a:r>
              <a:rPr lang="en-US" sz="1200" dirty="0"/>
              <a:t>C</a:t>
            </a:r>
            <a:r>
              <a:rPr lang="en-US" altLang="zh-CN" sz="1200" dirty="0"/>
              <a:t>onversation Cleaning</a:t>
            </a:r>
            <a:endParaRPr lang="en-US" sz="1200" dirty="0"/>
          </a:p>
        </p:txBody>
      </p:sp>
      <p:sp>
        <p:nvSpPr>
          <p:cNvPr id="11" name="Text 9"/>
          <p:cNvSpPr/>
          <p:nvPr/>
        </p:nvSpPr>
        <p:spPr>
          <a:xfrm>
            <a:off x="550467" y="1547749"/>
            <a:ext cx="320040" cy="118872"/>
          </a:xfrm>
          <a:prstGeom prst="rect">
            <a:avLst/>
          </a:prstGeom>
          <a:noFill/>
        </p:spPr>
        <p:txBody>
          <a:bodyPr wrap="square" lIns="0" tIns="0" rIns="0" bIns="0" rtlCol="0" anchor="ctr"/>
          <a:lstStyle/>
          <a:p>
            <a:pPr marL="0" indent="0" algn="ctr">
              <a:buNone/>
            </a:pPr>
            <a:r>
              <a:rPr lang="en-US" sz="1000" dirty="0">
                <a:solidFill>
                  <a:srgbClr val="0F969C"/>
                </a:solidFill>
                <a:latin typeface="Calibri" panose="020F0502020204030204" pitchFamily="34" charset="0"/>
                <a:ea typeface="Calibri" panose="020F0502020204030204" pitchFamily="34" charset="-122"/>
                <a:cs typeface="Calibri" panose="020F0502020204030204" pitchFamily="34" charset="-120"/>
              </a:rPr>
              <a:t>↓</a:t>
            </a:r>
            <a:endParaRPr lang="en-US" sz="1000" dirty="0"/>
          </a:p>
        </p:txBody>
      </p:sp>
      <p:sp>
        <p:nvSpPr>
          <p:cNvPr id="12" name="Shape 10"/>
          <p:cNvSpPr/>
          <p:nvPr/>
        </p:nvSpPr>
        <p:spPr>
          <a:xfrm>
            <a:off x="550467" y="1721485"/>
            <a:ext cx="320040" cy="320040"/>
          </a:xfrm>
          <a:prstGeom prst="ellipse">
            <a:avLst/>
          </a:prstGeom>
          <a:solidFill>
            <a:srgbClr val="0F969C"/>
          </a:solidFill>
        </p:spPr>
        <p:txBody>
          <a:bodyPr/>
          <a:lstStyle/>
          <a:p>
            <a:endParaRPr lang="en-US"/>
          </a:p>
        </p:txBody>
      </p:sp>
      <p:sp>
        <p:nvSpPr>
          <p:cNvPr id="13" name="Text 11"/>
          <p:cNvSpPr/>
          <p:nvPr/>
        </p:nvSpPr>
        <p:spPr>
          <a:xfrm>
            <a:off x="550467" y="1721485"/>
            <a:ext cx="320040" cy="32004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2</a:t>
            </a:r>
            <a:endParaRPr lang="en-US" sz="1200" dirty="0"/>
          </a:p>
        </p:txBody>
      </p:sp>
      <p:sp>
        <p:nvSpPr>
          <p:cNvPr id="14" name="Shape 12"/>
          <p:cNvSpPr/>
          <p:nvPr/>
        </p:nvSpPr>
        <p:spPr>
          <a:xfrm>
            <a:off x="1053387" y="1666621"/>
            <a:ext cx="1956547" cy="438912"/>
          </a:xfrm>
          <a:prstGeom prst="rect">
            <a:avLst/>
          </a:prstGeom>
          <a:solidFill>
            <a:srgbClr val="F7F9FC"/>
          </a:solidFill>
          <a:ln w="6350">
            <a:solidFill>
              <a:srgbClr val="E5E7EB"/>
            </a:solidFill>
            <a:prstDash val="solid"/>
          </a:ln>
        </p:spPr>
        <p:txBody>
          <a:bodyPr/>
          <a:lstStyle/>
          <a:p>
            <a:endParaRPr lang="en-US" dirty="0"/>
          </a:p>
        </p:txBody>
      </p:sp>
      <p:sp>
        <p:nvSpPr>
          <p:cNvPr id="15" name="Text 13"/>
          <p:cNvSpPr/>
          <p:nvPr/>
        </p:nvSpPr>
        <p:spPr>
          <a:xfrm>
            <a:off x="1190546" y="1666621"/>
            <a:ext cx="1768287" cy="438912"/>
          </a:xfrm>
          <a:prstGeom prst="rect">
            <a:avLst/>
          </a:prstGeom>
          <a:noFill/>
        </p:spPr>
        <p:txBody>
          <a:bodyPr wrap="square" lIns="0" tIns="0" rIns="0" bIns="0" rtlCol="0" anchor="ctr"/>
          <a:lstStyle/>
          <a:p>
            <a:r>
              <a:rPr lang="en-US" sz="1200" dirty="0"/>
              <a:t>Embedding &amp; Clustering</a:t>
            </a:r>
          </a:p>
        </p:txBody>
      </p:sp>
      <p:sp>
        <p:nvSpPr>
          <p:cNvPr id="17" name="Text 15"/>
          <p:cNvSpPr/>
          <p:nvPr/>
        </p:nvSpPr>
        <p:spPr>
          <a:xfrm>
            <a:off x="550467" y="2105533"/>
            <a:ext cx="320040" cy="118872"/>
          </a:xfrm>
          <a:prstGeom prst="rect">
            <a:avLst/>
          </a:prstGeom>
          <a:noFill/>
        </p:spPr>
        <p:txBody>
          <a:bodyPr wrap="square" lIns="0" tIns="0" rIns="0" bIns="0" rtlCol="0" anchor="ctr"/>
          <a:lstStyle/>
          <a:p>
            <a:pPr marL="0" indent="0" algn="ctr">
              <a:buNone/>
            </a:pPr>
            <a:r>
              <a:rPr lang="en-US" sz="1000" dirty="0">
                <a:solidFill>
                  <a:srgbClr val="0F969C"/>
                </a:solidFill>
                <a:latin typeface="Calibri" panose="020F0502020204030204" pitchFamily="34" charset="0"/>
                <a:ea typeface="Calibri" panose="020F0502020204030204" pitchFamily="34" charset="-122"/>
                <a:cs typeface="Calibri" panose="020F0502020204030204" pitchFamily="34" charset="-120"/>
              </a:rPr>
              <a:t>↓</a:t>
            </a:r>
            <a:endParaRPr lang="en-US" sz="1000" dirty="0"/>
          </a:p>
        </p:txBody>
      </p:sp>
      <p:sp>
        <p:nvSpPr>
          <p:cNvPr id="18" name="Shape 16"/>
          <p:cNvSpPr/>
          <p:nvPr/>
        </p:nvSpPr>
        <p:spPr>
          <a:xfrm>
            <a:off x="550467" y="2279269"/>
            <a:ext cx="320040" cy="320040"/>
          </a:xfrm>
          <a:prstGeom prst="ellipse">
            <a:avLst/>
          </a:prstGeom>
          <a:solidFill>
            <a:srgbClr val="0F969C"/>
          </a:solidFill>
        </p:spPr>
        <p:txBody>
          <a:bodyPr/>
          <a:lstStyle/>
          <a:p>
            <a:endParaRPr lang="en-US"/>
          </a:p>
        </p:txBody>
      </p:sp>
      <p:sp>
        <p:nvSpPr>
          <p:cNvPr id="19" name="Text 17"/>
          <p:cNvSpPr/>
          <p:nvPr/>
        </p:nvSpPr>
        <p:spPr>
          <a:xfrm>
            <a:off x="550467" y="2279269"/>
            <a:ext cx="320040" cy="32004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3</a:t>
            </a:r>
            <a:endParaRPr lang="en-US" sz="1200" dirty="0"/>
          </a:p>
        </p:txBody>
      </p:sp>
      <p:sp>
        <p:nvSpPr>
          <p:cNvPr id="20" name="Shape 18"/>
          <p:cNvSpPr/>
          <p:nvPr/>
        </p:nvSpPr>
        <p:spPr>
          <a:xfrm>
            <a:off x="1053386" y="2224405"/>
            <a:ext cx="1956547" cy="438912"/>
          </a:xfrm>
          <a:prstGeom prst="rect">
            <a:avLst/>
          </a:prstGeom>
          <a:solidFill>
            <a:srgbClr val="F7F9FC"/>
          </a:solidFill>
          <a:ln w="6350">
            <a:solidFill>
              <a:srgbClr val="E5E7EB"/>
            </a:solidFill>
            <a:prstDash val="solid"/>
          </a:ln>
        </p:spPr>
        <p:txBody>
          <a:bodyPr/>
          <a:lstStyle/>
          <a:p>
            <a:endParaRPr lang="en-US"/>
          </a:p>
        </p:txBody>
      </p:sp>
      <p:sp>
        <p:nvSpPr>
          <p:cNvPr id="21" name="Text 19"/>
          <p:cNvSpPr/>
          <p:nvPr/>
        </p:nvSpPr>
        <p:spPr>
          <a:xfrm>
            <a:off x="1190547" y="2224405"/>
            <a:ext cx="1463040" cy="438912"/>
          </a:xfrm>
          <a:prstGeom prst="rect">
            <a:avLst/>
          </a:prstGeom>
          <a:noFill/>
        </p:spPr>
        <p:txBody>
          <a:bodyPr wrap="square" lIns="0" tIns="0" rIns="0" bIns="0" rtlCol="0" anchor="ctr"/>
          <a:lstStyle/>
          <a:p>
            <a:r>
              <a:rPr lang="en-US" sz="1200" dirty="0"/>
              <a:t>Filtering</a:t>
            </a:r>
          </a:p>
        </p:txBody>
      </p:sp>
      <p:sp>
        <p:nvSpPr>
          <p:cNvPr id="23" name="Text 21"/>
          <p:cNvSpPr/>
          <p:nvPr/>
        </p:nvSpPr>
        <p:spPr>
          <a:xfrm>
            <a:off x="550467" y="2663317"/>
            <a:ext cx="320040" cy="118872"/>
          </a:xfrm>
          <a:prstGeom prst="rect">
            <a:avLst/>
          </a:prstGeom>
          <a:noFill/>
        </p:spPr>
        <p:txBody>
          <a:bodyPr wrap="square" lIns="0" tIns="0" rIns="0" bIns="0" rtlCol="0" anchor="ctr"/>
          <a:lstStyle/>
          <a:p>
            <a:pPr marL="0" indent="0" algn="ctr">
              <a:buNone/>
            </a:pPr>
            <a:r>
              <a:rPr lang="en-US" sz="1000" dirty="0">
                <a:solidFill>
                  <a:srgbClr val="0F969C"/>
                </a:solidFill>
                <a:latin typeface="Calibri" panose="020F0502020204030204" pitchFamily="34" charset="0"/>
                <a:ea typeface="Calibri" panose="020F0502020204030204" pitchFamily="34" charset="-122"/>
                <a:cs typeface="Calibri" panose="020F0502020204030204" pitchFamily="34" charset="-120"/>
              </a:rPr>
              <a:t>↓</a:t>
            </a:r>
            <a:endParaRPr lang="en-US" sz="1000" dirty="0"/>
          </a:p>
        </p:txBody>
      </p:sp>
      <p:sp>
        <p:nvSpPr>
          <p:cNvPr id="24" name="Shape 22"/>
          <p:cNvSpPr/>
          <p:nvPr/>
        </p:nvSpPr>
        <p:spPr>
          <a:xfrm>
            <a:off x="550467" y="2837053"/>
            <a:ext cx="320040" cy="320040"/>
          </a:xfrm>
          <a:prstGeom prst="ellipse">
            <a:avLst/>
          </a:prstGeom>
          <a:solidFill>
            <a:srgbClr val="0F969C"/>
          </a:solidFill>
        </p:spPr>
        <p:txBody>
          <a:bodyPr/>
          <a:lstStyle/>
          <a:p>
            <a:endParaRPr lang="en-US"/>
          </a:p>
        </p:txBody>
      </p:sp>
      <p:sp>
        <p:nvSpPr>
          <p:cNvPr id="25" name="Text 23"/>
          <p:cNvSpPr/>
          <p:nvPr/>
        </p:nvSpPr>
        <p:spPr>
          <a:xfrm>
            <a:off x="550467" y="2837053"/>
            <a:ext cx="320040" cy="32004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4</a:t>
            </a:r>
            <a:endParaRPr lang="en-US" sz="1200" dirty="0"/>
          </a:p>
        </p:txBody>
      </p:sp>
      <p:sp>
        <p:nvSpPr>
          <p:cNvPr id="26" name="Shape 24"/>
          <p:cNvSpPr/>
          <p:nvPr/>
        </p:nvSpPr>
        <p:spPr>
          <a:xfrm>
            <a:off x="1053387" y="2782189"/>
            <a:ext cx="1956547" cy="438912"/>
          </a:xfrm>
          <a:prstGeom prst="rect">
            <a:avLst/>
          </a:prstGeom>
          <a:solidFill>
            <a:srgbClr val="F7F9FC"/>
          </a:solidFill>
          <a:ln w="6350">
            <a:solidFill>
              <a:srgbClr val="E5E7EB"/>
            </a:solidFill>
            <a:prstDash val="solid"/>
          </a:ln>
        </p:spPr>
        <p:txBody>
          <a:bodyPr/>
          <a:lstStyle/>
          <a:p>
            <a:endParaRPr lang="en-US"/>
          </a:p>
        </p:txBody>
      </p:sp>
      <p:sp>
        <p:nvSpPr>
          <p:cNvPr id="27" name="Text 25"/>
          <p:cNvSpPr/>
          <p:nvPr/>
        </p:nvSpPr>
        <p:spPr>
          <a:xfrm>
            <a:off x="1190547" y="2782189"/>
            <a:ext cx="1905446" cy="438912"/>
          </a:xfrm>
          <a:prstGeom prst="rect">
            <a:avLst/>
          </a:prstGeom>
          <a:noFill/>
        </p:spPr>
        <p:txBody>
          <a:bodyPr wrap="square" lIns="0" tIns="0" rIns="0" bIns="0" rtlCol="0" anchor="ctr"/>
          <a:lstStyle/>
          <a:p>
            <a:r>
              <a:rPr lang="en-US" sz="1200" dirty="0"/>
              <a:t>Cluster-level Skill Extraction</a:t>
            </a:r>
          </a:p>
        </p:txBody>
      </p:sp>
      <p:sp>
        <p:nvSpPr>
          <p:cNvPr id="29" name="Text 27"/>
          <p:cNvSpPr/>
          <p:nvPr/>
        </p:nvSpPr>
        <p:spPr>
          <a:xfrm>
            <a:off x="550467" y="3221101"/>
            <a:ext cx="320040" cy="118872"/>
          </a:xfrm>
          <a:prstGeom prst="rect">
            <a:avLst/>
          </a:prstGeom>
          <a:noFill/>
        </p:spPr>
        <p:txBody>
          <a:bodyPr wrap="square" lIns="0" tIns="0" rIns="0" bIns="0" rtlCol="0" anchor="ctr"/>
          <a:lstStyle/>
          <a:p>
            <a:pPr marL="0" indent="0" algn="ctr">
              <a:buNone/>
            </a:pPr>
            <a:r>
              <a:rPr lang="en-US" sz="1000" dirty="0">
                <a:solidFill>
                  <a:srgbClr val="0F969C"/>
                </a:solidFill>
                <a:latin typeface="Calibri" panose="020F0502020204030204" pitchFamily="34" charset="0"/>
                <a:ea typeface="Calibri" panose="020F0502020204030204" pitchFamily="34" charset="-122"/>
                <a:cs typeface="Calibri" panose="020F0502020204030204" pitchFamily="34" charset="-120"/>
              </a:rPr>
              <a:t>↓</a:t>
            </a:r>
            <a:endParaRPr lang="en-US" sz="1000" dirty="0"/>
          </a:p>
        </p:txBody>
      </p:sp>
      <p:sp>
        <p:nvSpPr>
          <p:cNvPr id="30" name="Shape 28"/>
          <p:cNvSpPr/>
          <p:nvPr/>
        </p:nvSpPr>
        <p:spPr>
          <a:xfrm>
            <a:off x="550467" y="3394837"/>
            <a:ext cx="320040" cy="320040"/>
          </a:xfrm>
          <a:prstGeom prst="ellipse">
            <a:avLst/>
          </a:prstGeom>
          <a:solidFill>
            <a:srgbClr val="0F969C"/>
          </a:solidFill>
        </p:spPr>
        <p:txBody>
          <a:bodyPr/>
          <a:lstStyle/>
          <a:p>
            <a:endParaRPr lang="en-US"/>
          </a:p>
        </p:txBody>
      </p:sp>
      <p:sp>
        <p:nvSpPr>
          <p:cNvPr id="31" name="Text 29"/>
          <p:cNvSpPr/>
          <p:nvPr/>
        </p:nvSpPr>
        <p:spPr>
          <a:xfrm>
            <a:off x="550467" y="3394837"/>
            <a:ext cx="320040" cy="32004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5</a:t>
            </a:r>
            <a:endParaRPr lang="en-US" sz="1200" dirty="0"/>
          </a:p>
        </p:txBody>
      </p:sp>
      <p:sp>
        <p:nvSpPr>
          <p:cNvPr id="32" name="Shape 30"/>
          <p:cNvSpPr/>
          <p:nvPr/>
        </p:nvSpPr>
        <p:spPr>
          <a:xfrm>
            <a:off x="1053387" y="3339973"/>
            <a:ext cx="1956547" cy="438912"/>
          </a:xfrm>
          <a:prstGeom prst="rect">
            <a:avLst/>
          </a:prstGeom>
          <a:solidFill>
            <a:srgbClr val="F7F9FC"/>
          </a:solidFill>
          <a:ln w="6350">
            <a:solidFill>
              <a:srgbClr val="E5E7EB"/>
            </a:solidFill>
            <a:prstDash val="solid"/>
          </a:ln>
        </p:spPr>
        <p:txBody>
          <a:bodyPr/>
          <a:lstStyle/>
          <a:p>
            <a:endParaRPr lang="en-US"/>
          </a:p>
        </p:txBody>
      </p:sp>
      <p:sp>
        <p:nvSpPr>
          <p:cNvPr id="33" name="Text 31"/>
          <p:cNvSpPr/>
          <p:nvPr/>
        </p:nvSpPr>
        <p:spPr>
          <a:xfrm>
            <a:off x="1190547" y="3339973"/>
            <a:ext cx="1463040" cy="438912"/>
          </a:xfrm>
          <a:prstGeom prst="rect">
            <a:avLst/>
          </a:prstGeom>
          <a:noFill/>
        </p:spPr>
        <p:txBody>
          <a:bodyPr wrap="square" lIns="0" tIns="0" rIns="0" bIns="0" rtlCol="0" anchor="ctr"/>
          <a:lstStyle/>
          <a:p>
            <a:r>
              <a:rPr lang="en-US" sz="1200" dirty="0"/>
              <a:t>Human Review</a:t>
            </a:r>
          </a:p>
        </p:txBody>
      </p:sp>
      <p:sp>
        <p:nvSpPr>
          <p:cNvPr id="35" name="Text 33"/>
          <p:cNvSpPr/>
          <p:nvPr/>
        </p:nvSpPr>
        <p:spPr>
          <a:xfrm>
            <a:off x="550467" y="3778885"/>
            <a:ext cx="320040" cy="118872"/>
          </a:xfrm>
          <a:prstGeom prst="rect">
            <a:avLst/>
          </a:prstGeom>
          <a:noFill/>
        </p:spPr>
        <p:txBody>
          <a:bodyPr wrap="square" lIns="0" tIns="0" rIns="0" bIns="0" rtlCol="0" anchor="ctr"/>
          <a:lstStyle/>
          <a:p>
            <a:pPr marL="0" indent="0" algn="ctr">
              <a:buNone/>
            </a:pPr>
            <a:r>
              <a:rPr lang="en-US" sz="1000" dirty="0">
                <a:solidFill>
                  <a:srgbClr val="0F969C"/>
                </a:solidFill>
                <a:latin typeface="Calibri" panose="020F0502020204030204" pitchFamily="34" charset="0"/>
                <a:ea typeface="Calibri" panose="020F0502020204030204" pitchFamily="34" charset="-122"/>
                <a:cs typeface="Calibri" panose="020F0502020204030204" pitchFamily="34" charset="-120"/>
              </a:rPr>
              <a:t>↓</a:t>
            </a:r>
            <a:endParaRPr lang="en-US" sz="1000" dirty="0"/>
          </a:p>
        </p:txBody>
      </p:sp>
      <p:sp>
        <p:nvSpPr>
          <p:cNvPr id="36" name="Shape 34"/>
          <p:cNvSpPr/>
          <p:nvPr/>
        </p:nvSpPr>
        <p:spPr>
          <a:xfrm>
            <a:off x="550467" y="3952621"/>
            <a:ext cx="320040" cy="320040"/>
          </a:xfrm>
          <a:prstGeom prst="ellipse">
            <a:avLst/>
          </a:prstGeom>
          <a:solidFill>
            <a:srgbClr val="059669"/>
          </a:solidFill>
        </p:spPr>
        <p:txBody>
          <a:bodyPr/>
          <a:lstStyle/>
          <a:p>
            <a:endParaRPr lang="en-US"/>
          </a:p>
        </p:txBody>
      </p:sp>
      <p:sp>
        <p:nvSpPr>
          <p:cNvPr id="37" name="Text 35"/>
          <p:cNvSpPr/>
          <p:nvPr/>
        </p:nvSpPr>
        <p:spPr>
          <a:xfrm>
            <a:off x="550467" y="3952621"/>
            <a:ext cx="320040" cy="320040"/>
          </a:xfrm>
          <a:prstGeom prst="rect">
            <a:avLst/>
          </a:prstGeom>
          <a:noFill/>
        </p:spPr>
        <p:txBody>
          <a:bodyPr wrap="square" lIns="0" tIns="0" rIns="0" bIns="0" rtlCol="0" anchor="ctr"/>
          <a:lstStyle/>
          <a:p>
            <a:pPr marL="0" indent="0" algn="ctr">
              <a:buNone/>
            </a:pPr>
            <a:r>
              <a:rPr lang="en-US" sz="1200" b="1" dirty="0">
                <a:solidFill>
                  <a:srgbClr val="FFFFFF"/>
                </a:solidFill>
                <a:latin typeface="Calibri" panose="020F0502020204030204" pitchFamily="34" charset="0"/>
                <a:ea typeface="Calibri" panose="020F0502020204030204" pitchFamily="34" charset="-122"/>
                <a:cs typeface="Calibri" panose="020F0502020204030204" pitchFamily="34" charset="-120"/>
              </a:rPr>
              <a:t>6</a:t>
            </a:r>
            <a:endParaRPr lang="en-US" sz="1200" dirty="0"/>
          </a:p>
        </p:txBody>
      </p:sp>
      <p:sp>
        <p:nvSpPr>
          <p:cNvPr id="38" name="Shape 36"/>
          <p:cNvSpPr/>
          <p:nvPr/>
        </p:nvSpPr>
        <p:spPr>
          <a:xfrm>
            <a:off x="1053387" y="3897757"/>
            <a:ext cx="1956547" cy="438912"/>
          </a:xfrm>
          <a:prstGeom prst="rect">
            <a:avLst/>
          </a:prstGeom>
          <a:solidFill>
            <a:srgbClr val="F7F9FC"/>
          </a:solidFill>
          <a:ln w="10160">
            <a:solidFill>
              <a:srgbClr val="059669"/>
            </a:solidFill>
            <a:prstDash val="solid"/>
          </a:ln>
        </p:spPr>
        <p:txBody>
          <a:bodyPr/>
          <a:lstStyle/>
          <a:p>
            <a:endParaRPr lang="en-US" dirty="0"/>
          </a:p>
        </p:txBody>
      </p:sp>
      <p:sp>
        <p:nvSpPr>
          <p:cNvPr id="39" name="Text 37"/>
          <p:cNvSpPr/>
          <p:nvPr/>
        </p:nvSpPr>
        <p:spPr>
          <a:xfrm>
            <a:off x="1190547" y="3897757"/>
            <a:ext cx="1463040" cy="438912"/>
          </a:xfrm>
          <a:prstGeom prst="rect">
            <a:avLst/>
          </a:prstGeom>
          <a:noFill/>
        </p:spPr>
        <p:txBody>
          <a:bodyPr wrap="square" lIns="0" tIns="0" rIns="0" bIns="0" rtlCol="0" anchor="ctr"/>
          <a:lstStyle/>
          <a:p>
            <a:r>
              <a:rPr lang="en-US" sz="1200" dirty="0"/>
              <a:t>Publication</a:t>
            </a:r>
          </a:p>
        </p:txBody>
      </p:sp>
      <p:pic>
        <p:nvPicPr>
          <p:cNvPr id="41" name="Picture 40">
            <a:extLst>
              <a:ext uri="{FF2B5EF4-FFF2-40B4-BE49-F238E27FC236}">
                <a16:creationId xmlns:a16="http://schemas.microsoft.com/office/drawing/2014/main" id="{8014D6A8-9317-388E-2070-560D9D2E6C01}"/>
              </a:ext>
            </a:extLst>
          </p:cNvPr>
          <p:cNvPicPr>
            <a:picLocks noChangeAspect="1"/>
          </p:cNvPicPr>
          <p:nvPr/>
        </p:nvPicPr>
        <p:blipFill>
          <a:blip r:embed="rId3"/>
          <a:stretch>
            <a:fillRect/>
          </a:stretch>
        </p:blipFill>
        <p:spPr>
          <a:xfrm>
            <a:off x="4840660" y="700593"/>
            <a:ext cx="3299509" cy="404431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477eab6e-04c6-4822-9252-98ab9f25736b}" enabled="1" method="Standard" siteId="{d2007bef-127d-4591-97ac-10d72fe28031}" contentBits="2" removed="0"/>
</clbl:labelList>
</file>

<file path=docProps/app.xml><?xml version="1.0" encoding="utf-8"?>
<Properties xmlns="http://schemas.openxmlformats.org/officeDocument/2006/extended-properties" xmlns:vt="http://schemas.openxmlformats.org/officeDocument/2006/docPropsVTypes">
  <TotalTime>328</TotalTime>
  <Words>377</Words>
  <Application>Microsoft Office PowerPoint</Application>
  <PresentationFormat>On-screen Show (16:9)</PresentationFormat>
  <Paragraphs>45</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Aptos</vt:lpstr>
      <vt:lpstr>Arial</vt:lpstr>
      <vt:lpstr>Calibri</vt:lpstr>
      <vt:lpstr>Office Theme</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 System Proposal</dc:title>
  <dc:subject>PptxGenJS Presentation</dc:subject>
  <dc:creator>PptxGenJS</dc:creator>
  <cp:lastModifiedBy>Chengyi Ye</cp:lastModifiedBy>
  <cp:revision>29</cp:revision>
  <dcterms:created xsi:type="dcterms:W3CDTF">2026-04-14T08:28:00Z</dcterms:created>
  <dcterms:modified xsi:type="dcterms:W3CDTF">2026-09-10T09:40:23Z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26DA90BC54E1462CB129EEE9F3A47FE9_12</vt:lpwstr>
  </property>
  <property fmtid="{D5CDD505-2E9C-101B-9397-08002B2CF9AE}" pid="3" name="KSOProductBuildVer">
    <vt:lpwstr>1033-12.1.0.25242</vt:lpwstr>
  </property>
  <property fmtid="{D5CDD505-2E9C-101B-9397-08002B2CF9AE}" pid="4" name="ClassificationContentMarkingFooterLocations">
    <vt:lpwstr>Office Theme:3\1_Office Theme:3</vt:lpwstr>
  </property>
  <property fmtid="{D5CDD505-2E9C-101B-9397-08002B2CF9AE}" pid="5" name="ClassificationContentMarkingFooterText">
    <vt:lpwstr>Classified as Internal</vt:lpwstr>
  </property>
</Properties>
</file>